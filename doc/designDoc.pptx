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8" r:id="rId3"/>
    <p:sldId id="269" r:id="rId4"/>
    <p:sldId id="270" r:id="rId5"/>
    <p:sldId id="271" r:id="rId6"/>
    <p:sldId id="27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26/2/2026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9570E-6814-D85B-C8BD-0B3FAA16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51F5CF-5467-2242-C9A4-076A6E026325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06771-CB49-250E-7445-900BE58ADC98}"/>
              </a:ext>
            </a:extLst>
          </p:cNvPr>
          <p:cNvCxnSpPr>
            <a:cxnSpLocks/>
          </p:cNvCxnSpPr>
          <p:nvPr/>
        </p:nvCxnSpPr>
        <p:spPr>
          <a:xfrm flipH="1">
            <a:off x="8427420" y="710292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99DA8B-AA34-37AD-6D4E-B354CD4002FE}"/>
              </a:ext>
            </a:extLst>
          </p:cNvPr>
          <p:cNvSpPr txBox="1"/>
          <p:nvPr/>
        </p:nvSpPr>
        <p:spPr>
          <a:xfrm>
            <a:off x="8975467" y="546477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Panel</a:t>
            </a:r>
            <a:endParaRPr lang="en-SG" sz="12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FB65B0-D7D7-85A9-E55A-5EC7F603C000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D50DA8-6377-1EB3-4A07-191ABE82EF4F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A2FDBF-4896-9054-C049-43F9D4EAE85A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276FF5DB-4E95-A955-B7BA-A32EA0331EB3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870F757-9159-A731-33AB-5CE8DAA0A2D3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17F86-0699-89D1-AE48-33E3ADA9F7EF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EE04049-1B48-DC4E-E25C-618B4F480C68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ABAB1-0B45-F6A2-C3F1-090DF910DBE9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EB660F-6E2D-3137-ED96-5EF5A333BE96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3748DCC-15C4-113E-B1A6-CFA168295D04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AE0D97-F1BD-3C49-C9AD-E8B33CB5711C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FA8271-0236-E794-0A53-27AFFAB42B7D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642145-46BF-A862-8674-266BE8326E44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EFBC6BA-6F41-F718-BD49-98FFE744CFE5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795BFA1A-8185-FA7E-241E-FAFC7D31E7F4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4B2709C-5BC2-5E0F-19A5-071DF0753C68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6DC5B24-E669-8D6A-AC8F-4C56D5275903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7C8B39CB-27D3-C53B-372E-1477DA4E9F7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E8F0D49-9C28-B47B-8114-8395CBBD6721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4153339-3167-A110-5119-F106F01B0E98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6AE5A49-BB0E-7DD6-D1BD-4ADA0613BC5E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460C7030-A94B-A07D-9EDD-AB873C97B882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0F274D0-50BA-FCF5-F4CC-5A56DED35B16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516C641-E72B-B683-9772-6C704516ED92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DBACA0D-BBC5-6B1A-57CF-B4964856E44A}"/>
              </a:ext>
            </a:extLst>
          </p:cNvPr>
          <p:cNvCxnSpPr>
            <a:cxnSpLocks/>
          </p:cNvCxnSpPr>
          <p:nvPr/>
        </p:nvCxnSpPr>
        <p:spPr>
          <a:xfrm flipH="1">
            <a:off x="8119272" y="1076975"/>
            <a:ext cx="85619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8F5AF89-D1E1-5681-56CF-538394D3A330}"/>
              </a:ext>
            </a:extLst>
          </p:cNvPr>
          <p:cNvSpPr txBox="1"/>
          <p:nvPr/>
        </p:nvSpPr>
        <p:spPr>
          <a:xfrm>
            <a:off x="9009105" y="865348"/>
            <a:ext cx="23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Enable/Disable Checkbox</a:t>
            </a:r>
            <a:endParaRPr lang="en-SG" sz="1200" b="1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FDC49AD-2ADF-E641-8398-0658B59D5023}"/>
              </a:ext>
            </a:extLst>
          </p:cNvPr>
          <p:cNvCxnSpPr>
            <a:cxnSpLocks/>
          </p:cNvCxnSpPr>
          <p:nvPr/>
        </p:nvCxnSpPr>
        <p:spPr>
          <a:xfrm flipH="1">
            <a:off x="8351220" y="152106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1C08387-2E8D-7102-FF6C-7DBFD18759FE}"/>
              </a:ext>
            </a:extLst>
          </p:cNvPr>
          <p:cNvSpPr txBox="1"/>
          <p:nvPr/>
        </p:nvSpPr>
        <p:spPr>
          <a:xfrm>
            <a:off x="8975467" y="1369808"/>
            <a:ext cx="2383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 Servo Motor Control Slider</a:t>
            </a:r>
            <a:endParaRPr lang="en-SG" sz="12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B9CCB07-6508-84DB-E5AC-4FAF9F349A6A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70AAC8A-C2F1-2BA9-8826-230808BBDF19}"/>
              </a:ext>
            </a:extLst>
          </p:cNvPr>
          <p:cNvCxnSpPr>
            <a:cxnSpLocks/>
          </p:cNvCxnSpPr>
          <p:nvPr/>
        </p:nvCxnSpPr>
        <p:spPr>
          <a:xfrm flipH="1">
            <a:off x="8351219" y="1925706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40A837-9DCA-5871-02FD-CA8B6462C4CE}"/>
              </a:ext>
            </a:extLst>
          </p:cNvPr>
          <p:cNvSpPr txBox="1"/>
          <p:nvPr/>
        </p:nvSpPr>
        <p:spPr>
          <a:xfrm>
            <a:off x="8975466" y="177391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Should Servo Motor Control Slider</a:t>
            </a:r>
            <a:endParaRPr lang="en-SG" sz="1200" b="1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BB2DCB2-B2B0-889E-C0CA-62B31696954A}"/>
              </a:ext>
            </a:extLst>
          </p:cNvPr>
          <p:cNvCxnSpPr>
            <a:cxnSpLocks/>
          </p:cNvCxnSpPr>
          <p:nvPr/>
        </p:nvCxnSpPr>
        <p:spPr>
          <a:xfrm flipH="1">
            <a:off x="8351219" y="2465039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8CF562B7-10C7-7A2E-52F6-379943CAAAA1}"/>
              </a:ext>
            </a:extLst>
          </p:cNvPr>
          <p:cNvSpPr txBox="1"/>
          <p:nvPr/>
        </p:nvSpPr>
        <p:spPr>
          <a:xfrm>
            <a:off x="8971645" y="234921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Elbow Servo Motor Control Slider</a:t>
            </a:r>
            <a:endParaRPr lang="en-SG" sz="12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5A20D0-E226-022B-D218-72485F93A9F7}"/>
              </a:ext>
            </a:extLst>
          </p:cNvPr>
          <p:cNvCxnSpPr>
            <a:cxnSpLocks/>
          </p:cNvCxnSpPr>
          <p:nvPr/>
        </p:nvCxnSpPr>
        <p:spPr>
          <a:xfrm flipH="1">
            <a:off x="8351219" y="2905531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D6D543E-112C-42AC-22C5-E95FC2E0B428}"/>
              </a:ext>
            </a:extLst>
          </p:cNvPr>
          <p:cNvSpPr txBox="1"/>
          <p:nvPr/>
        </p:nvSpPr>
        <p:spPr>
          <a:xfrm>
            <a:off x="8971645" y="276703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Wrist Servo Motor Control Slider</a:t>
            </a:r>
            <a:endParaRPr lang="en-SG" sz="12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6C9C31C-5910-32B5-A28B-3C21F1D2A21A}"/>
              </a:ext>
            </a:extLst>
          </p:cNvPr>
          <p:cNvCxnSpPr>
            <a:cxnSpLocks/>
          </p:cNvCxnSpPr>
          <p:nvPr/>
        </p:nvCxnSpPr>
        <p:spPr>
          <a:xfrm flipH="1">
            <a:off x="8351218" y="338711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978AF0C-7274-A588-98CC-81EC9A1A0248}"/>
              </a:ext>
            </a:extLst>
          </p:cNvPr>
          <p:cNvSpPr txBox="1"/>
          <p:nvPr/>
        </p:nvSpPr>
        <p:spPr>
          <a:xfrm>
            <a:off x="8971645" y="324861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Rotation Servo Motor Control Slider</a:t>
            </a:r>
            <a:endParaRPr lang="en-SG" sz="1200" b="1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67A70B-6BEC-B641-CEEB-362270870824}"/>
              </a:ext>
            </a:extLst>
          </p:cNvPr>
          <p:cNvCxnSpPr>
            <a:cxnSpLocks/>
          </p:cNvCxnSpPr>
          <p:nvPr/>
        </p:nvCxnSpPr>
        <p:spPr>
          <a:xfrm flipH="1">
            <a:off x="8345899" y="389534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033617B-0D4E-2D60-39C5-CAB63F56F767}"/>
              </a:ext>
            </a:extLst>
          </p:cNvPr>
          <p:cNvSpPr txBox="1"/>
          <p:nvPr/>
        </p:nvSpPr>
        <p:spPr>
          <a:xfrm>
            <a:off x="8964945" y="3710280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Opening Servo Motor Control Slider</a:t>
            </a:r>
            <a:endParaRPr lang="en-SG" sz="1200" b="1" dirty="0"/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F361111-058C-EACC-D6E5-1794B27353A8}"/>
              </a:ext>
            </a:extLst>
          </p:cNvPr>
          <p:cNvCxnSpPr>
            <a:cxnSpLocks/>
          </p:cNvCxnSpPr>
          <p:nvPr/>
        </p:nvCxnSpPr>
        <p:spPr>
          <a:xfrm flipH="1">
            <a:off x="8345899" y="430247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8324B2F8-EA5E-AD90-4815-9D38184A3966}"/>
              </a:ext>
            </a:extLst>
          </p:cNvPr>
          <p:cNvSpPr txBox="1"/>
          <p:nvPr/>
        </p:nvSpPr>
        <p:spPr>
          <a:xfrm>
            <a:off x="8964944" y="420654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Grab and Release  Control Button</a:t>
            </a:r>
            <a:endParaRPr lang="en-SG" sz="1200" b="1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83A9FC1-E184-DFD2-DDA5-459B5B40FF95}"/>
              </a:ext>
            </a:extLst>
          </p:cNvPr>
          <p:cNvCxnSpPr>
            <a:cxnSpLocks/>
          </p:cNvCxnSpPr>
          <p:nvPr/>
        </p:nvCxnSpPr>
        <p:spPr>
          <a:xfrm flipH="1" flipV="1">
            <a:off x="7999322" y="4943343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E19CF7A-4EFB-D04A-33C5-807C7438C2D0}"/>
              </a:ext>
            </a:extLst>
          </p:cNvPr>
          <p:cNvSpPr txBox="1"/>
          <p:nvPr/>
        </p:nvSpPr>
        <p:spPr>
          <a:xfrm>
            <a:off x="9002154" y="4807088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Calculated Gripper Position Coordinate </a:t>
            </a:r>
            <a:endParaRPr lang="en-SG" sz="1200" b="1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BA1201B-B2AB-3624-58BB-4EF2324218FE}"/>
              </a:ext>
            </a:extLst>
          </p:cNvPr>
          <p:cNvCxnSpPr>
            <a:cxnSpLocks/>
          </p:cNvCxnSpPr>
          <p:nvPr/>
        </p:nvCxnSpPr>
        <p:spPr>
          <a:xfrm flipH="1" flipV="1">
            <a:off x="8070320" y="5544320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AE577A70-79DF-08FA-A3C2-B7AA4D8EA721}"/>
              </a:ext>
            </a:extLst>
          </p:cNvPr>
          <p:cNvSpPr txBox="1"/>
          <p:nvPr/>
        </p:nvSpPr>
        <p:spPr>
          <a:xfrm>
            <a:off x="9009105" y="5412429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Position Coordinate Display</a:t>
            </a:r>
            <a:endParaRPr lang="en-SG" sz="1200" b="1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59DB897F-CD62-7594-399E-F5C0B0F0E8BB}"/>
              </a:ext>
            </a:extLst>
          </p:cNvPr>
          <p:cNvCxnSpPr>
            <a:cxnSpLocks/>
          </p:cNvCxnSpPr>
          <p:nvPr/>
        </p:nvCxnSpPr>
        <p:spPr>
          <a:xfrm flipH="1">
            <a:off x="7600328" y="5861312"/>
            <a:ext cx="14018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20F66EE1-9D77-8672-6EB9-3609BBA7AA3D}"/>
              </a:ext>
            </a:extLst>
          </p:cNvPr>
          <p:cNvSpPr txBox="1"/>
          <p:nvPr/>
        </p:nvSpPr>
        <p:spPr>
          <a:xfrm>
            <a:off x="9031396" y="575024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Current Operational State</a:t>
            </a:r>
            <a:endParaRPr lang="en-SG" sz="1200" b="1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42A7154-F04C-B6E7-2472-7C13E7B14390}"/>
              </a:ext>
            </a:extLst>
          </p:cNvPr>
          <p:cNvCxnSpPr>
            <a:cxnSpLocks/>
          </p:cNvCxnSpPr>
          <p:nvPr/>
        </p:nvCxnSpPr>
        <p:spPr>
          <a:xfrm flipH="1">
            <a:off x="8345899" y="6146861"/>
            <a:ext cx="6562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708D50F-9902-A09C-D3CC-8EA3D256FD14}"/>
              </a:ext>
            </a:extLst>
          </p:cNvPr>
          <p:cNvSpPr txBox="1"/>
          <p:nvPr/>
        </p:nvSpPr>
        <p:spPr>
          <a:xfrm>
            <a:off x="9031396" y="6048964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Reset Button</a:t>
            </a:r>
            <a:endParaRPr lang="en-SG" sz="1200" b="1" dirty="0"/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E80F4CCD-8BF3-BBA7-6F21-A76741349EA8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63DC6623-13D9-6656-308A-24C456F70B4E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8D8C705-F9E6-0459-1C21-2544ACBC3AE6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9BB800D-6292-F8B7-1C7A-0BBF89C1A221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327A0CDA-6B79-4028-5D6C-272CFEC84516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4638F15-B5D7-5A36-AD42-18DBD0260106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5C3661D0-795B-EDCD-9411-4F4749B5498F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F846574-C17B-EA35-0FCD-F9B1A05A87D9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0301E21-C179-989F-890E-CF80F4758C99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820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EF860B-89A1-6B3A-95C6-5F4BEA68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032" y="787160"/>
            <a:ext cx="9400954" cy="52403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EA8787-EB1E-9346-BF2C-93310596E088}"/>
              </a:ext>
            </a:extLst>
          </p:cNvPr>
          <p:cNvCxnSpPr>
            <a:cxnSpLocks/>
          </p:cNvCxnSpPr>
          <p:nvPr/>
        </p:nvCxnSpPr>
        <p:spPr>
          <a:xfrm>
            <a:off x="1755648" y="658368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B6E66E-7652-F43E-1976-D5EBD338050C}"/>
              </a:ext>
            </a:extLst>
          </p:cNvPr>
          <p:cNvSpPr txBox="1"/>
          <p:nvPr/>
        </p:nvSpPr>
        <p:spPr>
          <a:xfrm>
            <a:off x="1203534" y="261099"/>
            <a:ext cx="150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 PLC Connection Protocol Selection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6C0DF-B8BA-99B5-FA05-1F024EDBA19B}"/>
              </a:ext>
            </a:extLst>
          </p:cNvPr>
          <p:cNvSpPr txBox="1"/>
          <p:nvPr/>
        </p:nvSpPr>
        <p:spPr>
          <a:xfrm>
            <a:off x="2782398" y="254458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Connection State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38BA28-41EC-A6E4-94A4-B7AE218E3C44}"/>
              </a:ext>
            </a:extLst>
          </p:cNvPr>
          <p:cNvCxnSpPr>
            <a:cxnSpLocks/>
          </p:cNvCxnSpPr>
          <p:nvPr/>
        </p:nvCxnSpPr>
        <p:spPr>
          <a:xfrm>
            <a:off x="2959608" y="655061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F94A51A-9919-BBE5-FF3C-9A392D776300}"/>
              </a:ext>
            </a:extLst>
          </p:cNvPr>
          <p:cNvCxnSpPr>
            <a:cxnSpLocks/>
          </p:cNvCxnSpPr>
          <p:nvPr/>
        </p:nvCxnSpPr>
        <p:spPr>
          <a:xfrm>
            <a:off x="5041392" y="65506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C4FA61-C2B9-C028-0074-EBF95C9005DB}"/>
              </a:ext>
            </a:extLst>
          </p:cNvPr>
          <p:cNvSpPr txBox="1"/>
          <p:nvPr/>
        </p:nvSpPr>
        <p:spPr>
          <a:xfrm>
            <a:off x="4626650" y="233899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 X-Y Projection display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20E3E-1C6B-26B3-453D-E37C576B95DE}"/>
              </a:ext>
            </a:extLst>
          </p:cNvPr>
          <p:cNvSpPr txBox="1"/>
          <p:nvPr/>
        </p:nvSpPr>
        <p:spPr>
          <a:xfrm>
            <a:off x="6973573" y="233897"/>
            <a:ext cx="1793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Joint sensor and motor angle display panel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A730D6-BF3D-E1B2-E0B6-B28E5D794949}"/>
              </a:ext>
            </a:extLst>
          </p:cNvPr>
          <p:cNvCxnSpPr>
            <a:cxnSpLocks/>
          </p:cNvCxnSpPr>
          <p:nvPr/>
        </p:nvCxnSpPr>
        <p:spPr>
          <a:xfrm>
            <a:off x="7607808" y="70318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2A9E5F-D0E9-B8B1-7C69-F4F681925A44}"/>
              </a:ext>
            </a:extLst>
          </p:cNvPr>
          <p:cNvCxnSpPr>
            <a:cxnSpLocks/>
          </p:cNvCxnSpPr>
          <p:nvPr/>
        </p:nvCxnSpPr>
        <p:spPr>
          <a:xfrm>
            <a:off x="9927336" y="655060"/>
            <a:ext cx="0" cy="246304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80A5A1-0C75-AA3B-0FC7-C5BD22C0CFE1}"/>
              </a:ext>
            </a:extLst>
          </p:cNvPr>
          <p:cNvSpPr txBox="1"/>
          <p:nvPr/>
        </p:nvSpPr>
        <p:spPr>
          <a:xfrm>
            <a:off x="9200830" y="233898"/>
            <a:ext cx="145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Servo motor control slider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6DA94B-F54B-60DC-C108-9A81481A976C}"/>
              </a:ext>
            </a:extLst>
          </p:cNvPr>
          <p:cNvCxnSpPr>
            <a:cxnSpLocks/>
          </p:cNvCxnSpPr>
          <p:nvPr/>
        </p:nvCxnSpPr>
        <p:spPr>
          <a:xfrm flipV="1">
            <a:off x="6452616" y="4769602"/>
            <a:ext cx="0" cy="143917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C130B1E-C056-1CD9-839C-D07A2444AB60}"/>
              </a:ext>
            </a:extLst>
          </p:cNvPr>
          <p:cNvSpPr txBox="1"/>
          <p:nvPr/>
        </p:nvSpPr>
        <p:spPr>
          <a:xfrm>
            <a:off x="6138440" y="6163056"/>
            <a:ext cx="1935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Sensor Angle data [Green]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D9F6816-D589-3A02-4608-3FF893C3F413}"/>
              </a:ext>
            </a:extLst>
          </p:cNvPr>
          <p:cNvCxnSpPr>
            <a:cxnSpLocks/>
          </p:cNvCxnSpPr>
          <p:nvPr/>
        </p:nvCxnSpPr>
        <p:spPr>
          <a:xfrm flipV="1">
            <a:off x="10003536" y="4588334"/>
            <a:ext cx="0" cy="1574722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9878D25-0514-D9BF-3659-F559022734A3}"/>
              </a:ext>
            </a:extLst>
          </p:cNvPr>
          <p:cNvSpPr txBox="1"/>
          <p:nvPr/>
        </p:nvSpPr>
        <p:spPr>
          <a:xfrm>
            <a:off x="8388328" y="6163056"/>
            <a:ext cx="217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 Motor Target Angle data [Yellow 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4D50007-6A78-72B4-2078-4B5C41F037D5}"/>
              </a:ext>
            </a:extLst>
          </p:cNvPr>
          <p:cNvCxnSpPr>
            <a:cxnSpLocks/>
          </p:cNvCxnSpPr>
          <p:nvPr/>
        </p:nvCxnSpPr>
        <p:spPr>
          <a:xfrm>
            <a:off x="3678936" y="3118104"/>
            <a:ext cx="0" cy="80668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2C8725-CB38-59DF-19E7-43937435ED05}"/>
              </a:ext>
            </a:extLst>
          </p:cNvPr>
          <p:cNvSpPr txBox="1"/>
          <p:nvPr/>
        </p:nvSpPr>
        <p:spPr>
          <a:xfrm>
            <a:off x="3540039" y="2841105"/>
            <a:ext cx="1606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CEC2439-B5A1-0741-5743-C912D1590CD6}"/>
              </a:ext>
            </a:extLst>
          </p:cNvPr>
          <p:cNvCxnSpPr>
            <a:cxnSpLocks/>
          </p:cNvCxnSpPr>
          <p:nvPr/>
        </p:nvCxnSpPr>
        <p:spPr>
          <a:xfrm flipV="1">
            <a:off x="1755648" y="5735906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F5F257-527F-0893-3C04-F8A4047DA3B2}"/>
              </a:ext>
            </a:extLst>
          </p:cNvPr>
          <p:cNvSpPr txBox="1"/>
          <p:nvPr/>
        </p:nvSpPr>
        <p:spPr>
          <a:xfrm>
            <a:off x="1203534" y="6199632"/>
            <a:ext cx="1091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Reset Button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A1021A-F1A9-3C8E-2FFC-DB46EEA82D23}"/>
              </a:ext>
            </a:extLst>
          </p:cNvPr>
          <p:cNvCxnSpPr>
            <a:cxnSpLocks/>
          </p:cNvCxnSpPr>
          <p:nvPr/>
        </p:nvCxnSpPr>
        <p:spPr>
          <a:xfrm flipV="1">
            <a:off x="2959608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8B0FE01-33AC-8CC3-A695-09A90EE73C78}"/>
              </a:ext>
            </a:extLst>
          </p:cNvPr>
          <p:cNvSpPr txBox="1"/>
          <p:nvPr/>
        </p:nvSpPr>
        <p:spPr>
          <a:xfrm>
            <a:off x="2706624" y="6199632"/>
            <a:ext cx="2505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Robot Arm Action Sequence load and execution control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09ACEA-35B4-9CE1-6345-920153FF9D36}"/>
              </a:ext>
            </a:extLst>
          </p:cNvPr>
          <p:cNvCxnSpPr>
            <a:cxnSpLocks/>
          </p:cNvCxnSpPr>
          <p:nvPr/>
        </p:nvCxnSpPr>
        <p:spPr>
          <a:xfrm flipV="1">
            <a:off x="3678936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317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0A14D-4E0D-83AE-C2CF-46217B3EA4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337" t="31418"/>
          <a:stretch>
            <a:fillRect/>
          </a:stretch>
        </p:blipFill>
        <p:spPr>
          <a:xfrm>
            <a:off x="329183" y="1600200"/>
            <a:ext cx="3000207" cy="2600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191A2D-0C98-4889-1339-317EF33307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454"/>
          <a:stretch>
            <a:fillRect/>
          </a:stretch>
        </p:blipFill>
        <p:spPr>
          <a:xfrm>
            <a:off x="3796569" y="396080"/>
            <a:ext cx="4035989" cy="516642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9488DE-8A65-B166-9BDA-36B1AD7DBDD0}"/>
              </a:ext>
            </a:extLst>
          </p:cNvPr>
          <p:cNvSpPr/>
          <p:nvPr/>
        </p:nvSpPr>
        <p:spPr>
          <a:xfrm>
            <a:off x="1697300" y="3078401"/>
            <a:ext cx="548640" cy="64008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E5B9C546-94FD-0C53-E6B2-896276E3517B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3983223" y="1706877"/>
            <a:ext cx="158575" cy="4181781"/>
          </a:xfrm>
          <a:prstGeom prst="bentConnector3">
            <a:avLst>
              <a:gd name="adj1" fmla="val 440215"/>
            </a:avLst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5864-4B78-0CF7-05CD-9961548F039B}"/>
              </a:ext>
            </a:extLst>
          </p:cNvPr>
          <p:cNvSpPr/>
          <p:nvPr/>
        </p:nvSpPr>
        <p:spPr>
          <a:xfrm>
            <a:off x="5943599" y="3374134"/>
            <a:ext cx="419603" cy="502922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BDB773-E392-E758-42C9-FE5CA3AF3CE0}"/>
              </a:ext>
            </a:extLst>
          </p:cNvPr>
          <p:cNvCxnSpPr/>
          <p:nvPr/>
        </p:nvCxnSpPr>
        <p:spPr>
          <a:xfrm>
            <a:off x="5733288" y="2962656"/>
            <a:ext cx="0" cy="145389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0317F4-227B-6379-F447-D1B784B93D69}"/>
              </a:ext>
            </a:extLst>
          </p:cNvPr>
          <p:cNvCxnSpPr>
            <a:cxnSpLocks/>
          </p:cNvCxnSpPr>
          <p:nvPr/>
        </p:nvCxnSpPr>
        <p:spPr>
          <a:xfrm>
            <a:off x="5733288" y="2962656"/>
            <a:ext cx="320039" cy="5852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71ABF840-9F4D-310F-B62C-F673631D36A2}"/>
              </a:ext>
            </a:extLst>
          </p:cNvPr>
          <p:cNvCxnSpPr/>
          <p:nvPr/>
        </p:nvCxnSpPr>
        <p:spPr>
          <a:xfrm rot="5400000">
            <a:off x="5701283" y="3397535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6199C28-F69E-2CD8-3C7F-91A1988CF489}"/>
              </a:ext>
            </a:extLst>
          </p:cNvPr>
          <p:cNvSpPr txBox="1"/>
          <p:nvPr/>
        </p:nvSpPr>
        <p:spPr>
          <a:xfrm>
            <a:off x="4164387" y="2866751"/>
            <a:ext cx="1201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60F911F-D169-3F47-57BD-37E9E8F2C8C8}"/>
              </a:ext>
            </a:extLst>
          </p:cNvPr>
          <p:cNvCxnSpPr>
            <a:cxnSpLocks/>
            <a:stCxn id="24" idx="2"/>
          </p:cNvCxnSpPr>
          <p:nvPr/>
        </p:nvCxnSpPr>
        <p:spPr>
          <a:xfrm rot="16200000" flipH="1">
            <a:off x="5262765" y="2830580"/>
            <a:ext cx="87107" cy="1082778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FEC688-5DCC-812E-9661-D55FBC3B493F}"/>
              </a:ext>
            </a:extLst>
          </p:cNvPr>
          <p:cNvSpPr txBox="1"/>
          <p:nvPr/>
        </p:nvSpPr>
        <p:spPr>
          <a:xfrm>
            <a:off x="5943599" y="2728251"/>
            <a:ext cx="1201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distance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909729A-4025-2403-6407-22D9791DC64E}"/>
              </a:ext>
            </a:extLst>
          </p:cNvPr>
          <p:cNvCxnSpPr>
            <a:cxnSpLocks/>
            <a:stCxn id="30" idx="2"/>
          </p:cNvCxnSpPr>
          <p:nvPr/>
        </p:nvCxnSpPr>
        <p:spPr>
          <a:xfrm rot="5400000">
            <a:off x="6141330" y="2748741"/>
            <a:ext cx="146303" cy="65932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660685A-2D2A-A761-ED41-7259F4F97509}"/>
              </a:ext>
            </a:extLst>
          </p:cNvPr>
          <p:cNvSpPr txBox="1"/>
          <p:nvPr/>
        </p:nvSpPr>
        <p:spPr>
          <a:xfrm>
            <a:off x="393498" y="4720639"/>
            <a:ext cx="3156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Axis-0: Base Rotation Angle =  arctan(y/x),  if x=0 and y &gt;0 : 90, if x=0 y&lt;0: -90.</a:t>
            </a:r>
          </a:p>
          <a:p>
            <a:endParaRPr lang="en-US" sz="1200" b="1" dirty="0"/>
          </a:p>
          <a:p>
            <a:r>
              <a:rPr lang="en-US" sz="1200" b="1" dirty="0"/>
              <a:t>Cube distance =  sqrt(x^2 + y^2)</a:t>
            </a:r>
            <a:endParaRPr lang="en-SG" sz="12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6D16749-90D4-F25E-4942-486401022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037" y="396080"/>
            <a:ext cx="3799765" cy="3132468"/>
          </a:xfrm>
          <a:prstGeom prst="rect">
            <a:avLst/>
          </a:prstGeom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FC6D3D7-BC62-D816-502A-540ABFA40ECD}"/>
              </a:ext>
            </a:extLst>
          </p:cNvPr>
          <p:cNvCxnSpPr>
            <a:cxnSpLocks/>
            <a:stCxn id="30" idx="3"/>
            <a:endCxn id="41" idx="2"/>
          </p:cNvCxnSpPr>
          <p:nvPr/>
        </p:nvCxnSpPr>
        <p:spPr>
          <a:xfrm>
            <a:off x="7144682" y="2866751"/>
            <a:ext cx="2760544" cy="451486"/>
          </a:xfrm>
          <a:prstGeom prst="bentConnector4">
            <a:avLst>
              <a:gd name="adj1" fmla="val 35180"/>
              <a:gd name="adj2" fmla="val 150633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6A26307-241F-511B-A27C-052266017747}"/>
              </a:ext>
            </a:extLst>
          </p:cNvPr>
          <p:cNvSpPr/>
          <p:nvPr/>
        </p:nvSpPr>
        <p:spPr>
          <a:xfrm>
            <a:off x="9087025" y="2994209"/>
            <a:ext cx="1636401" cy="324028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DDE725-8924-1361-CC4B-C4712802A341}"/>
              </a:ext>
            </a:extLst>
          </p:cNvPr>
          <p:cNvSpPr txBox="1"/>
          <p:nvPr/>
        </p:nvSpPr>
        <p:spPr>
          <a:xfrm>
            <a:off x="8314977" y="3821406"/>
            <a:ext cx="31562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theta1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: Shoulder motor Angle </a:t>
            </a:r>
          </a:p>
          <a:p>
            <a:r>
              <a:rPr lang="en-US" sz="1200" b="1" dirty="0"/>
              <a:t>theta2 : Elbow motor angle</a:t>
            </a:r>
          </a:p>
          <a:p>
            <a:r>
              <a:rPr lang="en-US" sz="1200" b="1" dirty="0"/>
              <a:t>theta3: Wrist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motor angle</a:t>
            </a:r>
          </a:p>
          <a:p>
            <a:endParaRPr lang="en-US" sz="1200" b="1" dirty="0">
              <a:solidFill>
                <a:schemeClr val="bg1"/>
              </a:solidFill>
            </a:endParaRPr>
          </a:p>
          <a:p>
            <a:r>
              <a:rPr lang="en-US" sz="1200" b="1" dirty="0"/>
              <a:t>a = sin(90-theta1)*1.5</a:t>
            </a:r>
          </a:p>
          <a:p>
            <a:r>
              <a:rPr lang="en-US" sz="1200" b="1" dirty="0"/>
              <a:t>b = sin(90-theta1-theta2)*1</a:t>
            </a:r>
          </a:p>
          <a:p>
            <a:r>
              <a:rPr lang="en-US" sz="1200" b="1" dirty="0"/>
              <a:t>c = sin(90-theta1-theta2-theta3)*0.5</a:t>
            </a:r>
          </a:p>
          <a:p>
            <a:endParaRPr lang="en-US" sz="1200" b="1" dirty="0"/>
          </a:p>
          <a:p>
            <a:r>
              <a:rPr lang="en-US" sz="1200" b="1" dirty="0"/>
              <a:t>Cube distance =  sqrt(x^2 + y^2) = a +b +c </a:t>
            </a:r>
            <a:endParaRPr lang="en-SG" sz="1200" b="1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DA107B6-6603-F1CA-30C8-AEE671C62080}"/>
              </a:ext>
            </a:extLst>
          </p:cNvPr>
          <p:cNvCxnSpPr/>
          <p:nvPr/>
        </p:nvCxnSpPr>
        <p:spPr>
          <a:xfrm>
            <a:off x="10081055" y="1984248"/>
            <a:ext cx="0" cy="109415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2FB6BF-D5C0-8995-83D6-EFB91CCB955B}"/>
              </a:ext>
            </a:extLst>
          </p:cNvPr>
          <p:cNvCxnSpPr>
            <a:cxnSpLocks/>
          </p:cNvCxnSpPr>
          <p:nvPr/>
        </p:nvCxnSpPr>
        <p:spPr>
          <a:xfrm>
            <a:off x="10649712" y="2545417"/>
            <a:ext cx="0" cy="45983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3934530-9AC0-4232-3ED1-46188033A316}"/>
              </a:ext>
            </a:extLst>
          </p:cNvPr>
          <p:cNvSpPr txBox="1"/>
          <p:nvPr/>
        </p:nvSpPr>
        <p:spPr>
          <a:xfrm>
            <a:off x="9397189" y="2589751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7A0ED9-0237-4210-3404-1E87FD3AB122}"/>
              </a:ext>
            </a:extLst>
          </p:cNvPr>
          <p:cNvCxnSpPr>
            <a:cxnSpLocks/>
          </p:cNvCxnSpPr>
          <p:nvPr/>
        </p:nvCxnSpPr>
        <p:spPr>
          <a:xfrm>
            <a:off x="9105313" y="2851558"/>
            <a:ext cx="910705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6A9953B-7EA4-4259-932E-7AEDD4BD53C6}"/>
              </a:ext>
            </a:extLst>
          </p:cNvPr>
          <p:cNvCxnSpPr>
            <a:cxnSpLocks/>
          </p:cNvCxnSpPr>
          <p:nvPr/>
        </p:nvCxnSpPr>
        <p:spPr>
          <a:xfrm>
            <a:off x="10081055" y="2851558"/>
            <a:ext cx="517216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4447B7B-1CE6-0C58-A126-D9CCE0B53341}"/>
              </a:ext>
            </a:extLst>
          </p:cNvPr>
          <p:cNvSpPr txBox="1"/>
          <p:nvPr/>
        </p:nvSpPr>
        <p:spPr>
          <a:xfrm>
            <a:off x="10199469" y="2570408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8CC4177-2F3C-05FD-6574-09CFE9243885}"/>
              </a:ext>
            </a:extLst>
          </p:cNvPr>
          <p:cNvCxnSpPr>
            <a:cxnSpLocks/>
          </p:cNvCxnSpPr>
          <p:nvPr/>
        </p:nvCxnSpPr>
        <p:spPr>
          <a:xfrm>
            <a:off x="10723426" y="2900641"/>
            <a:ext cx="267662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F4A9C27-8C9A-A7A6-C857-3E713A3BEDE5}"/>
              </a:ext>
            </a:extLst>
          </p:cNvPr>
          <p:cNvSpPr txBox="1"/>
          <p:nvPr/>
        </p:nvSpPr>
        <p:spPr>
          <a:xfrm>
            <a:off x="10768125" y="2555510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SG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4467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7E6B5CA-6FCB-02AF-4C92-9DCF76CD5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397" y="1231629"/>
            <a:ext cx="5506107" cy="4431475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66A77-4E6B-C8EC-CF7E-6EE142C92FF2}"/>
              </a:ext>
            </a:extLst>
          </p:cNvPr>
          <p:cNvCxnSpPr/>
          <p:nvPr/>
        </p:nvCxnSpPr>
        <p:spPr>
          <a:xfrm>
            <a:off x="2532888" y="2697480"/>
            <a:ext cx="2395728" cy="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64C10687-2A29-19AC-D5B7-AE588E79C6E1}"/>
              </a:ext>
            </a:extLst>
          </p:cNvPr>
          <p:cNvCxnSpPr/>
          <p:nvPr/>
        </p:nvCxnSpPr>
        <p:spPr>
          <a:xfrm rot="5400000">
            <a:off x="3525550" y="2766598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CB3A48-643C-36D4-295B-BD1C11A51ED0}"/>
              </a:ext>
            </a:extLst>
          </p:cNvPr>
          <p:cNvCxnSpPr>
            <a:cxnSpLocks/>
          </p:cNvCxnSpPr>
          <p:nvPr/>
        </p:nvCxnSpPr>
        <p:spPr>
          <a:xfrm>
            <a:off x="3054096" y="2084831"/>
            <a:ext cx="0" cy="14996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444556-4F4D-86E0-3BB0-4C7B74ECBC61}"/>
              </a:ext>
            </a:extLst>
          </p:cNvPr>
          <p:cNvCxnSpPr>
            <a:cxnSpLocks/>
          </p:cNvCxnSpPr>
          <p:nvPr/>
        </p:nvCxnSpPr>
        <p:spPr>
          <a:xfrm>
            <a:off x="4251960" y="3218688"/>
            <a:ext cx="1682496" cy="80467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951D2DE-3B96-2BC2-F9FE-DF2207092A06}"/>
              </a:ext>
            </a:extLst>
          </p:cNvPr>
          <p:cNvCxnSpPr>
            <a:cxnSpLocks/>
          </p:cNvCxnSpPr>
          <p:nvPr/>
        </p:nvCxnSpPr>
        <p:spPr>
          <a:xfrm flipV="1">
            <a:off x="4402126" y="2841635"/>
            <a:ext cx="612648" cy="121146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660476A-C42C-1300-8906-3B1C4D4F44C8}"/>
              </a:ext>
            </a:extLst>
          </p:cNvPr>
          <p:cNvCxnSpPr/>
          <p:nvPr/>
        </p:nvCxnSpPr>
        <p:spPr>
          <a:xfrm rot="5400000">
            <a:off x="5201371" y="3847896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6E3C07-2B82-479A-2F37-BA538EF7E9D8}"/>
              </a:ext>
            </a:extLst>
          </p:cNvPr>
          <p:cNvCxnSpPr>
            <a:cxnSpLocks/>
          </p:cNvCxnSpPr>
          <p:nvPr/>
        </p:nvCxnSpPr>
        <p:spPr>
          <a:xfrm flipV="1">
            <a:off x="5014774" y="4023360"/>
            <a:ext cx="1011122" cy="66751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EDEFBD-76B8-6B61-7B37-30A634802BDC}"/>
              </a:ext>
            </a:extLst>
          </p:cNvPr>
          <p:cNvCxnSpPr>
            <a:cxnSpLocks/>
          </p:cNvCxnSpPr>
          <p:nvPr/>
        </p:nvCxnSpPr>
        <p:spPr>
          <a:xfrm>
            <a:off x="5255670" y="3915937"/>
            <a:ext cx="998116" cy="1076687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C5ED72C9-5CEE-1D54-5523-EAED0FC87A76}"/>
              </a:ext>
            </a:extLst>
          </p:cNvPr>
          <p:cNvCxnSpPr>
            <a:cxnSpLocks/>
          </p:cNvCxnSpPr>
          <p:nvPr/>
        </p:nvCxnSpPr>
        <p:spPr>
          <a:xfrm rot="5400000">
            <a:off x="5916743" y="4816010"/>
            <a:ext cx="194330" cy="15890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8EA5C38-C5FB-03C6-03E3-629755CA7737}"/>
              </a:ext>
            </a:extLst>
          </p:cNvPr>
          <p:cNvSpPr txBox="1"/>
          <p:nvPr/>
        </p:nvSpPr>
        <p:spPr>
          <a:xfrm>
            <a:off x="3903663" y="1858558"/>
            <a:ext cx="1502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motor Angle (x)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7FC9AD3-876B-2A16-3C50-06DE032AB45A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3940533" y="2126844"/>
            <a:ext cx="521207" cy="907965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69B4D5A-B652-595B-4E4A-D847A842AFB1}"/>
              </a:ext>
            </a:extLst>
          </p:cNvPr>
          <p:cNvCxnSpPr>
            <a:cxnSpLocks/>
            <a:stCxn id="58" idx="2"/>
          </p:cNvCxnSpPr>
          <p:nvPr/>
        </p:nvCxnSpPr>
        <p:spPr>
          <a:xfrm rot="5400000">
            <a:off x="5416289" y="3285686"/>
            <a:ext cx="537335" cy="68188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3F872E2-D867-0F6D-A6CF-D7956EA7F204}"/>
              </a:ext>
            </a:extLst>
          </p:cNvPr>
          <p:cNvSpPr txBox="1"/>
          <p:nvPr/>
        </p:nvSpPr>
        <p:spPr>
          <a:xfrm>
            <a:off x="5383738" y="2896294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motor angle (y)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614081-73F7-A872-D15C-50DB3B16A81A}"/>
              </a:ext>
            </a:extLst>
          </p:cNvPr>
          <p:cNvSpPr txBox="1"/>
          <p:nvPr/>
        </p:nvSpPr>
        <p:spPr>
          <a:xfrm>
            <a:off x="6127009" y="4126283"/>
            <a:ext cx="1397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motor angle (z)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DA4E3D9-1C35-E1E5-6497-624166F9FE8C}"/>
              </a:ext>
            </a:extLst>
          </p:cNvPr>
          <p:cNvCxnSpPr>
            <a:cxnSpLocks/>
            <a:stCxn id="60" idx="2"/>
          </p:cNvCxnSpPr>
          <p:nvPr/>
        </p:nvCxnSpPr>
        <p:spPr>
          <a:xfrm rot="5400000">
            <a:off x="6239812" y="4374034"/>
            <a:ext cx="371832" cy="799660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81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</TotalTime>
  <Words>582</Words>
  <Application>Microsoft Office PowerPoint</Application>
  <PresentationFormat>Widescreen</PresentationFormat>
  <Paragraphs>120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27</cp:revision>
  <dcterms:created xsi:type="dcterms:W3CDTF">2026-02-24T06:43:55Z</dcterms:created>
  <dcterms:modified xsi:type="dcterms:W3CDTF">2026-02-26T08:09:59Z</dcterms:modified>
</cp:coreProperties>
</file>